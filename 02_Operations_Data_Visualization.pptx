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DATA &amp; INFORMATION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latin typeface="Aptos"/>
              </a:rPr>
              <a:t>OPERATIONS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latin typeface="Aptos"/>
              </a:rPr>
              <a:t>Quarterly performance / fictional 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989320"/>
            <a:ext cx="274320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DATA &amp; INFORMATION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latin typeface="Aptos"/>
              </a:rPr>
              <a:t>THE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latin typeface="Aptos"/>
              </a:rPr>
              <a:t>Revenue  KSh 18.4M</a:t>
            </a:r>
            <a:br/>
            <a:r>
              <a:t>Projects delivered  126</a:t>
            </a:r>
            <a:br/>
            <a:r>
              <a:t>On-time delivery  92%</a:t>
            </a:r>
            <a:br/>
            <a:r>
              <a:t>Client retention  78%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989320"/>
            <a:ext cx="274320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DATA &amp; INFORMATION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latin typeface="Aptos"/>
              </a:rPr>
              <a:t>WHERE THE GROWTH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latin typeface="Aptos"/>
              </a:rPr>
              <a:t>Enterprise  48%</a:t>
            </a:r>
            <a:br/>
            <a:r>
              <a:t>SME  32%</a:t>
            </a:r>
            <a:br/>
            <a:r>
              <a:t>Repeat business 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166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latin typeface="Aptos"/>
              </a:rPr>
              <a:t>Visual hierarchy makes the largest contribution immediately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989320"/>
            <a:ext cx="274320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DATA &amp; INFORMATION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latin typeface="Aptos"/>
              </a:rPr>
              <a:t>DELIVERY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latin typeface="Aptos"/>
              </a:rPr>
              <a:t>Q1  84%</a:t>
            </a:r>
            <a:br/>
            <a:r>
              <a:t>Q2  88%</a:t>
            </a:r>
            <a:br/>
            <a:r>
              <a:t>Q3  90%</a:t>
            </a:r>
            <a:br/>
            <a:r>
              <a:t>Q4  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166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latin typeface="Aptos"/>
              </a:rPr>
              <a:t>A simple progression communicates improvement without requiring a dense chart.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989320"/>
            <a:ext cx="274320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DATA &amp; INFORMATION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latin typeface="Aptos"/>
              </a:rPr>
              <a:t>THE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latin typeface="Aptos"/>
              </a:rPr>
              <a:t>+8 pts</a:t>
            </a:r>
            <a:br/>
            <a:r>
              <a:t>ON-TIME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166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latin typeface="Aptos"/>
              </a:rPr>
              <a:t>From 84% to 92% across four quarters. The design foregrounds the change, then provides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989320"/>
            <a:ext cx="274320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latin typeface="Aptos"/>
              </a:rPr>
              <a:t>DATA &amp; INFORMATION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latin typeface="Aptos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latin typeface="Aptos"/>
              </a:rPr>
              <a:t>Protect the delivery gains.</a:t>
            </a:r>
            <a:br/>
            <a:r>
              <a:t>Invest in repeat-client growth.</a:t>
            </a:r>
            <a:br/>
            <a:r>
              <a:t>Build the next reporting cycle around three executive KPIs.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166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latin typeface="Aptos"/>
              </a:rPr>
              <a:t>Data becomes useful when the audience can quickly connect evidence to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latin typeface="Apto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989320"/>
            <a:ext cx="2743200" cy="365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